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093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7315200" y="-548640"/>
            <a:ext cx="2560320" cy="2560320"/>
          </a:xfrm>
          <a:prstGeom prst="ellipse">
            <a:avLst/>
          </a:prstGeom>
          <a:solidFill>
            <a:srgbClr val="3B82F6">
              <a:alpha val="28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4008" cy="2103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FINAL PROJECT  · 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627632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Intent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345643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Machines to Understand Customer Needs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43891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 ·  BANKING77  ·  13,083 SAMPLES  ·  77 INTENT CLASSES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Banking Intent Classification Matters?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receive millions of customer queries daily. Manual routing is slow and error-prone — NLP can automate intent detection at scale.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938528"/>
            <a:ext cx="42062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65760" y="1938528"/>
            <a:ext cx="54864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accurate query routing to the right channel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441448"/>
            <a:ext cx="42062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365760" y="2441448"/>
            <a:ext cx="54864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30352" y="244144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operational costs at scale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944368"/>
            <a:ext cx="42062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365760" y="2944368"/>
            <a:ext cx="54864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30352" y="294436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consistent customer experience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447288"/>
            <a:ext cx="42062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365760" y="3447288"/>
            <a:ext cx="54864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30352" y="344728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millions of interactions without human error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83480" y="1051560"/>
            <a:ext cx="1261872" cy="1234440"/>
          </a:xfrm>
          <a:prstGeom prst="rect">
            <a:avLst/>
          </a:prstGeom>
          <a:solidFill>
            <a:srgbClr val="F3E8FF"/>
          </a:solidFill>
          <a:ln w="19050">
            <a:solidFill>
              <a:srgbClr val="6D28D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4983480" y="11155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983480" y="181051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73368" y="1051560"/>
            <a:ext cx="1261872" cy="1234440"/>
          </a:xfrm>
          <a:prstGeom prst="rect">
            <a:avLst/>
          </a:prstGeom>
          <a:solidFill>
            <a:srgbClr val="F0FDFA"/>
          </a:solidFill>
          <a:ln w="19050">
            <a:solidFill>
              <a:srgbClr val="0F766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6373368" y="11155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13K+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373368" y="181051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63256" y="1051560"/>
            <a:ext cx="1261872" cy="1234440"/>
          </a:xfrm>
          <a:prstGeom prst="rect">
            <a:avLst/>
          </a:prstGeom>
          <a:solidFill>
            <a:srgbClr val="EFF6FF"/>
          </a:solidFill>
          <a:ln w="19050">
            <a:solidFill>
              <a:srgbClr val="1E40A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7763256" y="1115568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763256" y="1810512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83480" y="2487168"/>
            <a:ext cx="37490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4983480" y="2487168"/>
            <a:ext cx="374904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5120640" y="25786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BANKING77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290779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fine-grained banking customer service benchmark by PolyAI. Contains real-world categories reflecting the semantic complexity of banking queries across 77 distinct intents.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83480" y="4133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PolyAI — task-specific-datasets (GitHub)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BANKING77 — Fine-Grained Intent Detection Benchmark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1168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 of total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1005840"/>
            <a:ext cx="2011680" cy="1188720"/>
          </a:xfrm>
          <a:prstGeom prst="rect">
            <a:avLst/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2450592" y="1005840"/>
            <a:ext cx="20116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2450592" y="10789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3,080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50592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50592" y="1920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23.5% of total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1005840"/>
            <a:ext cx="2011680" cy="1188720"/>
          </a:xfrm>
          <a:prstGeom prst="rect">
            <a:avLst/>
          </a:prstGeom>
          <a:solidFill>
            <a:srgbClr val="F3E8FF"/>
          </a:solidFill>
          <a:ln w="12700">
            <a:solidFill>
              <a:srgbClr val="6D28D9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4626864" y="1005840"/>
            <a:ext cx="201168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626864" y="10789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26864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26864" y="1920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categories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03136" y="1005840"/>
            <a:ext cx="2011680" cy="1188720"/>
          </a:xfrm>
          <a:prstGeom prst="rect">
            <a:avLst/>
          </a:prstGeom>
          <a:solidFill>
            <a:srgbClr val="FFFBEB"/>
          </a:solidFill>
          <a:ln w="12700">
            <a:solidFill>
              <a:srgbClr val="92400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6803136" y="1005840"/>
            <a:ext cx="2011680" cy="5486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6803136" y="10789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03136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words/query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03136" y="1920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utterances</a:t>
            </a:r>
            <a:endParaRPr lang="en-US" sz="900" dirty="0"/>
          </a:p>
        </p:txBody>
      </p:sp>
      <p:pic>
        <p:nvPicPr>
          <p:cNvPr id="25" name="Image 0" descr="/sessions/happy-gifted-dirac/mnt/Proyecto_Final/results/figures/eda_class_dis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2267712"/>
            <a:ext cx="859536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Banking Language Look Like?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38912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38912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Words in Queries</a:t>
            </a:r>
            <a:endParaRPr lang="en-US" sz="1100" dirty="0"/>
          </a:p>
        </p:txBody>
      </p:sp>
      <p:pic>
        <p:nvPicPr>
          <p:cNvPr id="8" name="Image 0" descr="/sessions/happy-gifted-dirac/mnt/Proyecto_Final/results/figures/eda_wordclou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371600"/>
            <a:ext cx="4251960" cy="2423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00600" y="1005840"/>
            <a:ext cx="411480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4800600" y="1005840"/>
            <a:ext cx="411480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4937760" y="1078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Length Distribution (words)</a:t>
            </a:r>
            <a:endParaRPr lang="en-US" sz="1100" dirty="0"/>
          </a:p>
        </p:txBody>
      </p:sp>
      <p:pic>
        <p:nvPicPr>
          <p:cNvPr id="12" name="Image 1" descr="/sessions/happy-gifted-dirac/mnt/Proyecto_Final/results/figures/eda_text_length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1371600"/>
            <a:ext cx="3977640" cy="24231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4320" y="4023360"/>
            <a:ext cx="8595360" cy="84124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0"/>
          <p:cNvSpPr/>
          <p:nvPr/>
        </p:nvSpPr>
        <p:spPr>
          <a:xfrm>
            <a:off x="274320" y="4023360"/>
            <a:ext cx="64008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457200" y="407822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435254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are short (~11 words) and dominated by banking keywords (card, payment, transfer, account). The challenge is NOT vocabulary — it is distinguishing 77 semantically similar intents from each other.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Models. One Goal: Maximum Accuracy.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507492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1344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  —  TF-IDF Features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596128" y="1325880"/>
            <a:ext cx="3182112" cy="310896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669280" y="1344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—  Neural Embeddings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1572768" cy="19933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24128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40080" y="2816352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075688" y="1691640"/>
            <a:ext cx="1572768" cy="1993392"/>
          </a:xfrm>
          <a:prstGeom prst="rect">
            <a:avLst/>
          </a:prstGeom>
          <a:solidFill>
            <a:srgbClr val="134E4A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2075688" y="17373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75688" y="20574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(LinearSVC)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350008" y="2816352"/>
            <a:ext cx="1024128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2350008" y="2816352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89.4%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785616" y="1691640"/>
            <a:ext cx="1572768" cy="1993392"/>
          </a:xfrm>
          <a:prstGeom prst="rect">
            <a:avLst/>
          </a:prstGeom>
          <a:solidFill>
            <a:srgbClr val="451A03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3785616" y="17373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85616" y="20574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059936" y="2816352"/>
            <a:ext cx="1024128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059936" y="2816352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86.6%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95544" y="1691640"/>
            <a:ext cx="1572768" cy="1993392"/>
          </a:xfrm>
          <a:prstGeom prst="rect">
            <a:avLst/>
          </a:prstGeom>
          <a:solidFill>
            <a:srgbClr val="4C0519"/>
          </a:solidFill>
          <a:ln w="12700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5495544" y="17373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95544" y="20574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769864" y="2816352"/>
            <a:ext cx="1024128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5769864" y="2816352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89.9%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205472" y="1691640"/>
            <a:ext cx="1572768" cy="1993392"/>
          </a:xfrm>
          <a:prstGeom prst="rect">
            <a:avLst/>
          </a:prstGeom>
          <a:solidFill>
            <a:srgbClr val="2E1065"/>
          </a:solidFill>
          <a:ln w="25400">
            <a:solidFill>
              <a:srgbClr val="C4B5FD"/>
            </a:solidFill>
            <a:prstDash val="solid"/>
          </a:ln>
          <a:effectLst>
            <a:outerShdw blurRad="152400" dist="38100" dir="8100000" algn="bl" rotWithShape="0">
              <a:srgbClr val="7C3AED">
                <a:alpha val="4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7205472" y="17373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205472" y="20574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(Fine-tuned)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479792" y="2816352"/>
            <a:ext cx="1024128" cy="4114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7479792" y="2816352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93.2%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05472" y="33101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BEST MODEL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trained and evaluated on the identical BANKING77 train/test split — fully comparable results.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  —  MODELS 1–3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SVM &amp; Random Forest with TF-IDF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2834640" cy="379476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283464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737360" y="1060704"/>
            <a:ext cx="1261872" cy="2560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737360" y="106070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7472" y="1847088"/>
            <a:ext cx="1188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47472" y="18836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21214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85.55%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719072" y="1847088"/>
            <a:ext cx="1188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1719072" y="18836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19072" y="21214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85.40%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7472" y="276148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linear classifier using TF-IDF bag-of-words (unigrams + bigrams, up to 100K features). Strong L2 regularization. Provides solid interpretable baseline.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3822192"/>
            <a:ext cx="26517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393192" y="384962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interpretable, low memory   </a:t>
            </a: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linear separability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987552"/>
            <a:ext cx="2834640" cy="3794760"/>
          </a:xfrm>
          <a:prstGeom prst="rect">
            <a:avLst/>
          </a:prstGeom>
          <a:solidFill>
            <a:srgbClr val="F0FDFA"/>
          </a:solidFill>
          <a:ln w="19050">
            <a:solidFill>
              <a:srgbClr val="99F6E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3227832" y="987552"/>
            <a:ext cx="283464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4709160" y="1060704"/>
            <a:ext cx="1261872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709160" y="106070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Traditional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19272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(LinearSVC)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319272" y="1847088"/>
            <a:ext cx="1188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3319272" y="18836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19272" y="21214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89.35%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690872" y="1847088"/>
            <a:ext cx="1188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4690872" y="18836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90872" y="21214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89.37%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319272" y="276148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margin classifier with linear kernel on TF-IDF. Excels in high-dimensional sparse spaces. Outperforms LR by +3.8% — best traditional model.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19272" y="3822192"/>
            <a:ext cx="26517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3364992" y="384962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sparse text features well   </a:t>
            </a: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probability calibration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99632" y="987552"/>
            <a:ext cx="2834640" cy="3794760"/>
          </a:xfrm>
          <a:prstGeom prst="rect">
            <a:avLst/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6199632" y="987552"/>
            <a:ext cx="2834640" cy="5486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7680960" y="1060704"/>
            <a:ext cx="1261872" cy="25603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7680960" y="106070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91072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291072" y="1847088"/>
            <a:ext cx="1188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6291072" y="18836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91072" y="21214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86.56%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7662672" y="1847088"/>
            <a:ext cx="11887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7662672" y="18836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662672" y="21214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86.52%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291072" y="276148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 over TF-IDF features. Bagging provides robustness to noise. Slightly outperforms LR but lags SVM — trees struggle with sparse vectors.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91072" y="3822192"/>
            <a:ext cx="26517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/>
          <p:nvPr/>
        </p:nvSpPr>
        <p:spPr>
          <a:xfrm>
            <a:off x="6336792" y="384962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Robust, handles noise   </a:t>
            </a: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on sparse TF-IDF vectors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0519"/>
          </a:solidFill>
          <a:ln w="12700">
            <a:solidFill>
              <a:srgbClr val="4C051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—  MODEL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LSTM with GloVe Embeddings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16052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60520" cy="54864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20240" y="1508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6B 100d (frozen)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88366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20240" y="18836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→ Dropout → Dense → Softmax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units: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20240" y="22585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per direction → 256 total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63347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920240" y="26334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for regularization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0083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20240" y="30083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 lr=1e-3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20240" y="33832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(early stopping patience=5)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379476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F123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594360" y="3822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407822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89.94% Accuracy  |  89.94% F1 Macro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09160" y="987552"/>
            <a:ext cx="416052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 — Accuracy &amp; Loss</a:t>
            </a:r>
            <a:endParaRPr lang="en-US" sz="1100" dirty="0"/>
          </a:p>
        </p:txBody>
      </p:sp>
      <p:pic>
        <p:nvPicPr>
          <p:cNvPr id="25" name="Image 0" descr="/sessions/happy-gifted-dirac/mnt/Proyecto_Final/results/figures/lstm_training_histo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389888"/>
            <a:ext cx="4069080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—  MODEL 5  ★  BEST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— Fine-Tuned Transformer for Intent Classification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16052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6052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20240" y="1508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distilbert-base-uncased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88366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20240" y="18836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 (max_len = 64)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20240" y="22585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Transformer layers, 768 hidden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63347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920240" y="26334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head: 768 → 77 classes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0083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20240" y="30083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 lr = 2e-5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20240" y="33832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(early stopping patience=3)</a:t>
            </a:r>
            <a:endParaRPr lang="en-US" sz="1050" dirty="0"/>
          </a:p>
        </p:txBody>
      </p:sp>
      <p:pic>
        <p:nvPicPr>
          <p:cNvPr id="20" name="Image 0" descr="/sessions/happy-gifted-dirac/mnt/Proyecto_Final/DistilBert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686" y="3816490"/>
            <a:ext cx="3398148" cy="1011542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709160" y="987552"/>
            <a:ext cx="416052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Text 19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History — Loss &amp; Val Accuracy</a:t>
            </a:r>
            <a:endParaRPr lang="en-US" sz="1100" dirty="0"/>
          </a:p>
        </p:txBody>
      </p:sp>
      <p:pic>
        <p:nvPicPr>
          <p:cNvPr id="23" name="Image 1" descr="/sessions/happy-gifted-dirac/mnt/Proyecto_Final/results/figures/bert_training_histor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371600"/>
            <a:ext cx="4069080" cy="233172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709160" y="3913632"/>
            <a:ext cx="4160520" cy="914400"/>
          </a:xfrm>
          <a:prstGeom prst="rect">
            <a:avLst/>
          </a:prstGeom>
          <a:solidFill>
            <a:srgbClr val="F5F3FF"/>
          </a:solidFill>
          <a:ln w="25400">
            <a:solidFill>
              <a:srgbClr val="6D28D9"/>
            </a:solidFill>
            <a:prstDash val="solid"/>
          </a:ln>
          <a:effectLst>
            <a:outerShdw blurRad="76200" dist="25400" dir="8100000" algn="bl" rotWithShape="0">
              <a:srgbClr val="7C3AED">
                <a:alpha val="2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Text 21"/>
          <p:cNvSpPr/>
          <p:nvPr/>
        </p:nvSpPr>
        <p:spPr>
          <a:xfrm>
            <a:off x="4846320" y="400507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93.18% Accuracy  |  93.18% F1 Macro</a:t>
            </a:r>
            <a:endParaRPr lang="en-US" sz="1550" dirty="0"/>
          </a:p>
        </p:txBody>
      </p:sp>
      <p:sp>
        <p:nvSpPr>
          <p:cNvPr id="26" name="Text 22"/>
          <p:cNvSpPr/>
          <p:nvPr/>
        </p:nvSpPr>
        <p:spPr>
          <a:xfrm>
            <a:off x="4846320" y="440740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+3.24% over BiLSTM   |   +4.32% over SVM (best traditional)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Performance Showdown — All 5 Models Head-to-Head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508760"/>
          </a:xfrm>
          <a:prstGeom prst="rect">
            <a:avLst/>
          </a:prstGeom>
          <a:solidFill>
            <a:srgbClr val="F5F3FF"/>
          </a:solidFill>
          <a:ln w="25400">
            <a:solidFill>
              <a:srgbClr val="6D28D9"/>
            </a:solidFill>
            <a:prstDash val="solid"/>
          </a:ln>
          <a:effectLst>
            <a:outerShdw blurRad="76200" dist="25400" dir="8100000" algn="bl" rotWithShape="0">
              <a:srgbClr val="7C3AED">
                <a:alpha val="2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274320" y="107899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93.18%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74320" y="1865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Accuracy — Best Model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Clear Winner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697480"/>
            <a:ext cx="274320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74320" y="27432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+9.11%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432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over LR baseline (F1 Macro)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675888"/>
            <a:ext cx="2743200" cy="80467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274320" y="373075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85.55% → 93.18%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74320" y="4123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from LR to DistilBERT</a:t>
            </a:r>
            <a:endParaRPr lang="en-US" sz="950" dirty="0"/>
          </a:p>
        </p:txBody>
      </p:sp>
      <p:pic>
        <p:nvPicPr>
          <p:cNvPr id="15" name="Image 0" descr="/sessions/happy-gifted-dirac/mnt/Proyecto_Final/results/figures/comparison_accuracy_f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0" y="960120"/>
            <a:ext cx="56692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Evaluation — Accuracy, Precision, Recall &amp; F1</a:t>
            </a:r>
            <a:endParaRPr lang="en-US" sz="1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005840"/>
          <a:ext cx="5093208" cy="3456432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 Macro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Logistic Regression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85.55%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86.67%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85.55%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85.40%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86.56%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87.12%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86.56%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86.52%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</a:rPr>
                        <a:t>SVM (LinearSVC)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</a:rPr>
                        <a:t>89.35%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</a:rPr>
                        <a:t>89.76%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</a:rPr>
                        <a:t>89.35%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</a:rPr>
                        <a:t>89.37%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F1239"/>
                          </a:solidFill>
                        </a:rPr>
                        <a:t>Bidirectional LSTM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F1239"/>
                          </a:solidFill>
                        </a:rPr>
                        <a:t>89.94%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F1239"/>
                          </a:solidFill>
                        </a:rPr>
                        <a:t>90.34%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F1239"/>
                          </a:solidFill>
                        </a:rPr>
                        <a:t>89.94%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F1239"/>
                          </a:solidFill>
                        </a:rPr>
                        <a:t>89.94%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★  DistilBERT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93.18%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93.41%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93.18%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93.18%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Image 0" descr="/sessions/happy-gifted-dirac/mnt/Proyecto_Final/results/figures/comparison_rada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40680" y="960120"/>
            <a:ext cx="3520440" cy="3520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40680" y="45537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 — DistilBERT consistently dominates every axis across all 5 metrics.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BERT Excel — and Where Does It Struggle?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251960" cy="3547872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251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 — F1 = 1.00</a:t>
            </a:r>
            <a:endParaRPr lang="en-US" sz="1150" dirty="0"/>
          </a:p>
        </p:txBody>
      </p:sp>
      <p:pic>
        <p:nvPicPr>
          <p:cNvPr id="8" name="Image 0" descr="/sessions/happy-gifted-dirac/mnt/Proyecto_Final/results/figures/best_intents_f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389888"/>
            <a:ext cx="4160520" cy="30540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63440" y="987552"/>
            <a:ext cx="4251960" cy="3547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4663440" y="987552"/>
            <a:ext cx="4251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4800600" y="10698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Intents — F1 ≈ 0.81–0.88</a:t>
            </a:r>
            <a:endParaRPr lang="en-US" sz="1150" dirty="0"/>
          </a:p>
        </p:txBody>
      </p:sp>
      <p:pic>
        <p:nvPicPr>
          <p:cNvPr id="12" name="Image 1" descr="/sessions/happy-gifted-dirac/mnt/Proyecto_Final/results/figures/worst_intents_f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0" y="1389888"/>
            <a:ext cx="4160520" cy="30540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4320" y="4663440"/>
            <a:ext cx="8641080" cy="292608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/>
          <p:cNvSpPr/>
          <p:nvPr/>
        </p:nvSpPr>
        <p:spPr>
          <a:xfrm>
            <a:off x="384048" y="46908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Hardest intents share semantic overlap (failed_transfer vs pending_transfer) — they require deep contextual understanding beyond lexical features.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64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&amp; Differences Across the 5 Models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33272"/>
            <a:ext cx="4224528" cy="157276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74320" y="1033272"/>
            <a:ext cx="64008" cy="157276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57200" y="11247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Intent Overlap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3931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classes share near-identical vocabulary (top_up_failed vs top_up_reverted). Traditional ML fails here — only context-aware models can distinguish them.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36592" y="1033272"/>
            <a:ext cx="4224528" cy="15727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736592" y="1033272"/>
            <a:ext cx="64008" cy="15727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919472" y="11247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Sparse Utterances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536192"/>
            <a:ext cx="3931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average ~11 words. TF-IDF vectors are extremely sparse, limiting tree-based models like Random Forest from finding discriminative patterns.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770632"/>
            <a:ext cx="4224528" cy="157276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274320" y="2770632"/>
            <a:ext cx="64008" cy="15727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57200" y="28620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 vs Accuracy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273552"/>
            <a:ext cx="3931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requires ~20× more compute than LR. Training takes minutes vs. seconds — but the +7.6% accuracy gain justifies the investment in production.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36592" y="2770632"/>
            <a:ext cx="4224528" cy="157276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4736592" y="2770632"/>
            <a:ext cx="64008" cy="15727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4919472" y="28620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Contextual Embeddings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273552"/>
            <a:ext cx="3931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(BiLSTM) is static: 'card blocked' and 'card declined' look similar. BERT's contextual embeddings encode different meanings in different contexts.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544568"/>
            <a:ext cx="85953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384048" y="4562856"/>
            <a:ext cx="8366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F1 gain over LR baseline:   DistilBERT +9.11%   |   BiLSTM +5.32%   |   SVM +4.65%   |   Random Forest +1.31%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4C1D95">
              <a:alpha val="45000"/>
            </a:srgbClr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2E1065">
              <a:alpha val="50000"/>
            </a:srgbClr>
          </a:solidFill>
          <a:ln w="12700">
            <a:solidFill>
              <a:srgbClr val="2E106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1206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DistilBERT is the Clear Winner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251960" cy="886968"/>
          </a:xfrm>
          <a:prstGeom prst="rect">
            <a:avLst/>
          </a:prstGeom>
          <a:solidFill>
            <a:srgbClr val="2E1065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502920" cy="8869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5029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148132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Understanding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801368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reads bidirectionally — 'card not working' vs 'card blocked' carry different context. Word-level models cannot make this distinction.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404872"/>
            <a:ext cx="4251960" cy="886968"/>
          </a:xfrm>
          <a:prstGeom prst="rect">
            <a:avLst/>
          </a:prstGeom>
          <a:solidFill>
            <a:srgbClr val="2E1065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65760" y="2404872"/>
            <a:ext cx="502920" cy="8869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65760" y="2404872"/>
            <a:ext cx="5029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0120" y="2468880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3.3 Billion Words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2788920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learning: 66M parameters already understand English grammar, semantics, and financial vocabulary before seeing a single training sample.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392424"/>
            <a:ext cx="4251960" cy="886968"/>
          </a:xfrm>
          <a:prstGeom prst="rect">
            <a:avLst/>
          </a:prstGeom>
          <a:solidFill>
            <a:srgbClr val="2E1065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365760" y="3392424"/>
            <a:ext cx="502920" cy="8869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365760" y="3392424"/>
            <a:ext cx="5029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0120" y="345643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+3.24% Over the Second-Best Model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" y="377647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over BiLSTM is consistent across all 3,080 test samples and all 5 evaluation metrics — not a statistical fluke.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64608" y="1417320"/>
            <a:ext cx="4251960" cy="886968"/>
          </a:xfrm>
          <a:prstGeom prst="rect">
            <a:avLst/>
          </a:prstGeom>
          <a:solidFill>
            <a:srgbClr val="2E1065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4864608" y="1417320"/>
            <a:ext cx="502920" cy="8869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4864608" y="1417320"/>
            <a:ext cx="5029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458968" y="148132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Dominates Even the Hardest Intents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58968" y="1801368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BERT's weakest intents (F1=0.81) beat SVM's class average. No intent falls below 0.80 — the floor is dramatically raised.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64608" y="2404872"/>
            <a:ext cx="4251960" cy="886968"/>
          </a:xfrm>
          <a:prstGeom prst="rect">
            <a:avLst/>
          </a:prstGeom>
          <a:solidFill>
            <a:srgbClr val="2E1065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4864608" y="2404872"/>
            <a:ext cx="502920" cy="8869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4864608" y="2404872"/>
            <a:ext cx="5029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458968" y="2468880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Convergence, No Overfitting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58968" y="2788920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plateaus at 93.18% in ~7 epochs. Training and validation loss track closely — a robust, generalizable model.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7498080" y="3474720"/>
            <a:ext cx="2560320" cy="2560320"/>
          </a:xfrm>
          <a:prstGeom prst="ellipse">
            <a:avLst/>
          </a:prstGeom>
          <a:solidFill>
            <a:srgbClr val="1E3A5F">
              <a:alpha val="5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731520" y="228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54864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389888"/>
            <a:ext cx="8092440" cy="1024128"/>
          </a:xfrm>
          <a:prstGeom prst="rect">
            <a:avLst/>
          </a:prstGeom>
          <a:solidFill>
            <a:srgbClr val="1E1035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64008" cy="10241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795528" y="1389888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71600" y="1444752"/>
            <a:ext cx="7315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Transformers Win on Fine-Grained Tasks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71600" y="17647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(93.18%) significantly outperforms all baselines. Pre-trained language models are the right tool for short, ambiguous banking queries where context is everything.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551176"/>
            <a:ext cx="8092440" cy="1024128"/>
          </a:xfrm>
          <a:prstGeom prst="rect">
            <a:avLst/>
          </a:prstGeom>
          <a:solidFill>
            <a:srgbClr val="0A2E2A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731520" y="2551176"/>
            <a:ext cx="64008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795528" y="2551176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71600" y="2606040"/>
            <a:ext cx="7315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 Has a Hard Ceiling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71600" y="2926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achieves a strong 89.35% and is 20× faster — ideal for resource-constrained environments. But semantic overlap between intents creates a ceiling that BERT shatters.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712464"/>
            <a:ext cx="8092440" cy="1024128"/>
          </a:xfrm>
          <a:prstGeom prst="rect">
            <a:avLst/>
          </a:prstGeom>
          <a:solidFill>
            <a:srgbClr val="0A1A3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731520" y="3712464"/>
            <a:ext cx="64008" cy="10241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795528" y="3712464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371600" y="3767328"/>
            <a:ext cx="7315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King in NLP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71600" y="408736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BANKING77 intents are not lexically distinct — they demand contextual understanding. Models that capture context (BiLSTM, BERT) consistently beat bag-of-words approaches.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4681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89204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Intent Classification  ·  BANKING77  ·  NLP Final Project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1234</Words>
  <Application>Microsoft Macintosh PowerPoint</Application>
  <PresentationFormat>Presentación en pantalla (16:9)</PresentationFormat>
  <Paragraphs>231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Intent Classification — NLP Final Project</dc:title>
  <dc:subject>PptxGenJS Presentation</dc:subject>
  <dc:creator>PptxGenJS</dc:creator>
  <cp:lastModifiedBy>Ethan Leonel García Melena</cp:lastModifiedBy>
  <cp:revision>2</cp:revision>
  <dcterms:created xsi:type="dcterms:W3CDTF">2026-03-26T04:53:35Z</dcterms:created>
  <dcterms:modified xsi:type="dcterms:W3CDTF">2026-03-26T05:18:42Z</dcterms:modified>
</cp:coreProperties>
</file>